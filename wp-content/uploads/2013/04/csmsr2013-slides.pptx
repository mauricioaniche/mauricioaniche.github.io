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6"/>
  </p:notesMasterIdLst>
  <p:sldIdLst>
    <p:sldId id="256" r:id="rId2"/>
    <p:sldId id="257" r:id="rId3"/>
    <p:sldId id="258" r:id="rId4"/>
    <p:sldId id="278" r:id="rId5"/>
    <p:sldId id="279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-1576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interSettings" Target="printerSettings/printerSettings1.bin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9F315-E711-4100-A506-C0FCF583E7D8}" type="datetimeFigureOut">
              <a:rPr lang="pt-BR" smtClean="0"/>
              <a:t>3/6/13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937E5-9DD4-4D0E-9C9D-59DE3FF074B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9095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É importante dizer o porquê da escolha desse teste estatístico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937E5-9DD4-4D0E-9C9D-59DE3FF074BC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1470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937E5-9DD4-4D0E-9C9D-59DE3FF074BC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1465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0A98AF03-7270-45C2-A683-C5E353EF01A5}" type="datetime4">
              <a:rPr lang="en-US" smtClean="0"/>
              <a:pPr/>
              <a:t>March 6, 2013</a:t>
            </a:fld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93482-8E69-40F7-BCAD-5662A6CADB27}" type="datetime4">
              <a:rPr lang="en-US" smtClean="0"/>
              <a:pPr/>
              <a:t>March 6,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EAE1-CAAC-4AEF-919E-158692B1E55E}" type="datetime4">
              <a:rPr lang="en-US" smtClean="0"/>
              <a:pPr/>
              <a:t>March 6,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706-D8F2-4D1A-855A-CADC92600C26}" type="datetime4">
              <a:rPr lang="en-US" smtClean="0"/>
              <a:pPr/>
              <a:t>March 6, 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F123-1704-49AC-9D15-C4B1462B8014}" type="datetime4">
              <a:rPr lang="en-US" smtClean="0"/>
              <a:pPr/>
              <a:t>March 6, 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7EC2-47FB-48A1-8644-C8A81DDAA119}" type="datetime4">
              <a:rPr lang="en-US" smtClean="0"/>
              <a:pPr/>
              <a:t>March 6, 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EC3ED-7435-49F9-84C8-03CCA2F8DEDB}" type="datetime4">
              <a:rPr lang="en-US" smtClean="0"/>
              <a:pPr/>
              <a:t>March 6, 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49BF1-FCD3-4395-8FF6-0047AF66228E}" type="datetime4">
              <a:rPr lang="en-US" smtClean="0"/>
              <a:pPr/>
              <a:t>March 6, 2013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61222-2C8B-4501-BE87-6797EC025925}" type="datetime4">
              <a:rPr lang="en-US" smtClean="0"/>
              <a:pPr/>
              <a:t>March 6, 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5AFD-D735-4504-A039-ADEBB6448D55}" type="datetime4">
              <a:rPr lang="en-US" smtClean="0"/>
              <a:pPr/>
              <a:t>March 6,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8118-FB93-4E87-B380-0175F2FE2167}" type="datetime4">
              <a:rPr lang="en-US" smtClean="0"/>
              <a:pPr/>
              <a:t>March 6,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16C01193-8287-4834-A286-6B880643E934}" type="datetime4">
              <a:rPr lang="en-US" smtClean="0"/>
              <a:pPr/>
              <a:t>March 6,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mailto:goliva@ime.usp.br" TargetMode="External"/><Relationship Id="rId4" Type="http://schemas.openxmlformats.org/officeDocument/2006/relationships/hyperlink" Target="mailto:gerosa@ime.usp.br" TargetMode="External"/><Relationship Id="rId5" Type="http://schemas.openxmlformats.org/officeDocument/2006/relationships/hyperlink" Target="http://lapessc.ime.usp.br/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mailto:aniche@ime.usp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What Do the Asserts in a Unit Test Tell us About Code Quality?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529193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Mauricio Aniche</a:t>
            </a:r>
          </a:p>
          <a:p>
            <a:r>
              <a:rPr lang="en-US" dirty="0" smtClean="0"/>
              <a:t>Gustavo </a:t>
            </a:r>
            <a:r>
              <a:rPr lang="en-US" dirty="0" err="1" smtClean="0"/>
              <a:t>Oliva</a:t>
            </a:r>
            <a:endParaRPr lang="en-US" dirty="0" smtClean="0"/>
          </a:p>
          <a:p>
            <a:r>
              <a:rPr lang="en-US" dirty="0" smtClean="0"/>
              <a:t>Marco </a:t>
            </a:r>
            <a:r>
              <a:rPr lang="en-US" dirty="0" err="1" smtClean="0"/>
              <a:t>Gerosa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University of São Paulo (USP)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5602559" y="92022"/>
            <a:ext cx="1571414" cy="2136227"/>
            <a:chOff x="5602559" y="92022"/>
            <a:chExt cx="1571414" cy="2136227"/>
          </a:xfrm>
        </p:grpSpPr>
        <p:pic>
          <p:nvPicPr>
            <p:cNvPr id="4" name="Picture 3" descr="imeusp.png"/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284"/>
            <a:stretch/>
          </p:blipFill>
          <p:spPr>
            <a:xfrm>
              <a:off x="5700243" y="92022"/>
              <a:ext cx="1376046" cy="165600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5602559" y="1705029"/>
              <a:ext cx="15714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dirty="0" smtClean="0">
                  <a:solidFill>
                    <a:schemeClr val="bg1"/>
                  </a:solidFill>
                </a:rPr>
                <a:t>IME-USP</a:t>
              </a:r>
              <a:endParaRPr lang="pt-BR" sz="2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9934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Tests and Code Quality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Great synergy between a testable class and a well-designed class (Feathers, 2012)</a:t>
            </a:r>
          </a:p>
          <a:p>
            <a:r>
              <a:rPr lang="en-US" dirty="0" smtClean="0"/>
              <a:t>The write of unit tests can become complex as the interactions between software components grow out of control (McGregor, 2001)</a:t>
            </a:r>
          </a:p>
          <a:p>
            <a:r>
              <a:rPr lang="en-US" dirty="0" smtClean="0"/>
              <a:t>Agile practitioners state that unit tests are a way to validate and improve class design (Beck et al, 2001)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19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Tests and Asserts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Every unit test contains three parts</a:t>
            </a:r>
          </a:p>
          <a:p>
            <a:pPr lvl="1"/>
            <a:r>
              <a:rPr lang="en-US" dirty="0" smtClean="0"/>
              <a:t>Set up the scenario</a:t>
            </a:r>
          </a:p>
          <a:p>
            <a:pPr lvl="1"/>
            <a:r>
              <a:rPr lang="en-US" dirty="0" smtClean="0"/>
              <a:t>Invoke the behavior under test</a:t>
            </a:r>
          </a:p>
          <a:p>
            <a:pPr lvl="1"/>
            <a:r>
              <a:rPr lang="en-US" dirty="0" smtClean="0"/>
              <a:t>Validates the expected output</a:t>
            </a:r>
          </a:p>
          <a:p>
            <a:r>
              <a:rPr lang="en-US" dirty="0" smtClean="0"/>
              <a:t>Assert instructions</a:t>
            </a:r>
          </a:p>
          <a:p>
            <a:pPr lvl="1"/>
            <a:r>
              <a:rPr lang="en-US" dirty="0" err="1" smtClean="0"/>
              <a:t>assertEquals</a:t>
            </a:r>
            <a:r>
              <a:rPr lang="en-US" dirty="0" smtClean="0"/>
              <a:t> (expected, calculated);</a:t>
            </a:r>
          </a:p>
          <a:p>
            <a:pPr lvl="1"/>
            <a:r>
              <a:rPr lang="en-US" dirty="0" err="1" smtClean="0"/>
              <a:t>assertTrue</a:t>
            </a:r>
            <a:r>
              <a:rPr lang="en-US" dirty="0" smtClean="0"/>
              <a:t>(), </a:t>
            </a:r>
            <a:r>
              <a:rPr lang="en-US" dirty="0" err="1" smtClean="0"/>
              <a:t>assertFalse</a:t>
            </a:r>
            <a:r>
              <a:rPr lang="en-US" dirty="0" smtClean="0"/>
              <a:t>(), and so on</a:t>
            </a:r>
          </a:p>
          <a:p>
            <a:r>
              <a:rPr lang="en-US" dirty="0" smtClean="0"/>
              <a:t>No limits for the number of asserts per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27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little piece of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23652"/>
            <a:ext cx="7198015" cy="3944153"/>
          </a:xfrm>
        </p:spPr>
        <p:txBody>
          <a:bodyPr>
            <a:normAutofit fontScale="85000" lnSpcReduction="20000"/>
          </a:bodyPr>
          <a:lstStyle/>
          <a:p>
            <a:pPr marL="68580" indent="0">
              <a:buNone/>
            </a:pPr>
            <a:r>
              <a:rPr lang="en-US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 err="1">
                <a:latin typeface="Courier New"/>
                <a:cs typeface="Courier New"/>
              </a:rPr>
              <a:t>InvoiceTest</a:t>
            </a:r>
            <a:r>
              <a:rPr lang="en-US" dirty="0">
                <a:latin typeface="Courier New"/>
                <a:cs typeface="Courier New"/>
              </a:rPr>
              <a:t> { </a:t>
            </a:r>
            <a:endParaRPr lang="en-US" dirty="0" smtClean="0">
              <a:latin typeface="Courier New"/>
              <a:cs typeface="Courier New"/>
            </a:endParaRPr>
          </a:p>
          <a:p>
            <a:pPr marL="68580" indent="0">
              <a:buNone/>
            </a:pPr>
            <a:r>
              <a:rPr lang="en-US" dirty="0" smtClean="0">
                <a:latin typeface="Courier New"/>
                <a:cs typeface="Courier New"/>
              </a:rPr>
              <a:t>  </a:t>
            </a:r>
            <a:r>
              <a:rPr lang="en-US" dirty="0" smtClean="0">
                <a:solidFill>
                  <a:schemeClr val="accent1"/>
                </a:solidFill>
                <a:latin typeface="Courier New"/>
                <a:cs typeface="Courier New"/>
              </a:rPr>
              <a:t>@</a:t>
            </a:r>
            <a:r>
              <a:rPr lang="en-US" dirty="0">
                <a:solidFill>
                  <a:schemeClr val="accent1"/>
                </a:solidFill>
                <a:latin typeface="Courier New"/>
                <a:cs typeface="Courier New"/>
              </a:rPr>
              <a:t>Test </a:t>
            </a:r>
          </a:p>
          <a:p>
            <a:pPr marL="68580" indent="0">
              <a:buNone/>
            </a:pPr>
            <a:r>
              <a:rPr lang="en-US" dirty="0" smtClean="0">
                <a:latin typeface="Courier New"/>
                <a:cs typeface="Courier New"/>
              </a:rPr>
              <a:t>  </a:t>
            </a:r>
            <a:r>
              <a:rPr lang="en-US" dirty="0" smtClean="0">
                <a:solidFill>
                  <a:srgbClr val="0000FF"/>
                </a:solidFill>
                <a:latin typeface="Courier New"/>
                <a:cs typeface="Courier New"/>
              </a:rPr>
              <a:t>public </a:t>
            </a:r>
            <a:r>
              <a:rPr lang="en-US" dirty="0">
                <a:solidFill>
                  <a:srgbClr val="0000FF"/>
                </a:solidFill>
                <a:latin typeface="Courier New"/>
                <a:cs typeface="Courier New"/>
              </a:rPr>
              <a:t>void </a:t>
            </a:r>
            <a:r>
              <a:rPr lang="en-US" dirty="0" err="1" smtClean="0">
                <a:latin typeface="Courier New"/>
                <a:cs typeface="Courier New"/>
              </a:rPr>
              <a:t>shouldCalculateTaxes</a:t>
            </a:r>
            <a:r>
              <a:rPr lang="en-US" dirty="0" smtClean="0">
                <a:latin typeface="Courier New"/>
                <a:cs typeface="Courier New"/>
              </a:rPr>
              <a:t>(</a:t>
            </a:r>
            <a:r>
              <a:rPr lang="en-US" dirty="0">
                <a:latin typeface="Courier New"/>
                <a:cs typeface="Courier New"/>
              </a:rPr>
              <a:t>) {</a:t>
            </a:r>
            <a:br>
              <a:rPr lang="en-US" dirty="0">
                <a:latin typeface="Courier New"/>
                <a:cs typeface="Courier New"/>
              </a:rPr>
            </a:br>
            <a:r>
              <a:rPr lang="en-US" dirty="0" smtClean="0">
                <a:latin typeface="Courier New"/>
                <a:cs typeface="Courier New"/>
              </a:rPr>
              <a:t>    </a:t>
            </a:r>
            <a:r>
              <a:rPr lang="en-US" i="1" dirty="0" smtClean="0">
                <a:solidFill>
                  <a:srgbClr val="008000"/>
                </a:solidFill>
                <a:latin typeface="Courier New"/>
                <a:cs typeface="Courier New"/>
              </a:rPr>
              <a:t>/</a:t>
            </a:r>
            <a:r>
              <a:rPr lang="en-US" i="1" dirty="0">
                <a:solidFill>
                  <a:srgbClr val="008000"/>
                </a:solidFill>
                <a:latin typeface="Courier New"/>
                <a:cs typeface="Courier New"/>
              </a:rPr>
              <a:t>/ (</a:t>
            </a:r>
            <a:r>
              <a:rPr lang="en-US" i="1" dirty="0" err="1">
                <a:solidFill>
                  <a:srgbClr val="008000"/>
                </a:solidFill>
                <a:latin typeface="Courier New"/>
                <a:cs typeface="Courier New"/>
              </a:rPr>
              <a:t>i</a:t>
            </a:r>
            <a:r>
              <a:rPr lang="en-US" i="1" dirty="0">
                <a:solidFill>
                  <a:srgbClr val="008000"/>
                </a:solidFill>
                <a:latin typeface="Courier New"/>
                <a:cs typeface="Courier New"/>
              </a:rPr>
              <a:t>) setting up the scenario</a:t>
            </a:r>
            <a:br>
              <a:rPr lang="en-US" i="1" dirty="0">
                <a:solidFill>
                  <a:srgbClr val="008000"/>
                </a:solidFill>
                <a:latin typeface="Courier New"/>
                <a:cs typeface="Courier New"/>
              </a:rPr>
            </a:br>
            <a:r>
              <a:rPr lang="en-US" i="1" dirty="0" smtClean="0">
                <a:latin typeface="Courier New"/>
                <a:cs typeface="Courier New"/>
              </a:rPr>
              <a:t>    </a:t>
            </a:r>
            <a:r>
              <a:rPr lang="en-US" dirty="0" smtClean="0">
                <a:latin typeface="Courier New"/>
                <a:cs typeface="Courier New"/>
              </a:rPr>
              <a:t>Invoice </a:t>
            </a:r>
            <a:r>
              <a:rPr lang="en-US" dirty="0" err="1">
                <a:latin typeface="Courier New"/>
                <a:cs typeface="Courier New"/>
              </a:rPr>
              <a:t>inv</a:t>
            </a:r>
            <a:r>
              <a:rPr lang="en-US" dirty="0">
                <a:latin typeface="Courier New"/>
                <a:cs typeface="Courier New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lang="en-US" dirty="0">
                <a:latin typeface="Courier New"/>
                <a:cs typeface="Courier New"/>
              </a:rPr>
              <a:t> Invoice</a:t>
            </a:r>
            <a:r>
              <a:rPr lang="en-US" dirty="0" smtClean="0">
                <a:latin typeface="Courier New"/>
                <a:cs typeface="Courier New"/>
              </a:rPr>
              <a:t>(5000.0</a:t>
            </a:r>
            <a:r>
              <a:rPr lang="en-US" dirty="0">
                <a:latin typeface="Courier New"/>
                <a:cs typeface="Courier New"/>
              </a:rPr>
              <a:t>); </a:t>
            </a:r>
            <a:endParaRPr lang="en-US" dirty="0" smtClean="0">
              <a:latin typeface="Courier New"/>
              <a:cs typeface="Courier New"/>
            </a:endParaRPr>
          </a:p>
          <a:p>
            <a:pPr marL="68580" indent="0">
              <a:buNone/>
            </a:pPr>
            <a:endParaRPr lang="en-US" dirty="0" smtClean="0">
              <a:latin typeface="Courier New"/>
              <a:cs typeface="Courier New"/>
            </a:endParaRPr>
          </a:p>
          <a:p>
            <a:pPr marL="68580" indent="0">
              <a:buNone/>
            </a:pPr>
            <a:r>
              <a:rPr lang="en-US" i="1" dirty="0">
                <a:latin typeface="Courier New"/>
                <a:cs typeface="Courier New"/>
              </a:rPr>
              <a:t> </a:t>
            </a:r>
            <a:r>
              <a:rPr lang="en-US" i="1" dirty="0" smtClean="0">
                <a:latin typeface="Courier New"/>
                <a:cs typeface="Courier New"/>
              </a:rPr>
              <a:t>  </a:t>
            </a:r>
            <a:r>
              <a:rPr lang="en-US" i="1" dirty="0" smtClean="0">
                <a:solidFill>
                  <a:srgbClr val="008000"/>
                </a:solidFill>
                <a:latin typeface="Courier New"/>
                <a:cs typeface="Courier New"/>
              </a:rPr>
              <a:t> /</a:t>
            </a:r>
            <a:r>
              <a:rPr lang="en-US" i="1" dirty="0">
                <a:solidFill>
                  <a:srgbClr val="008000"/>
                </a:solidFill>
                <a:latin typeface="Courier New"/>
                <a:cs typeface="Courier New"/>
              </a:rPr>
              <a:t>/ </a:t>
            </a:r>
            <a:r>
              <a:rPr lang="en-US" i="1" dirty="0" smtClean="0">
                <a:solidFill>
                  <a:srgbClr val="008000"/>
                </a:solidFill>
                <a:latin typeface="Courier New"/>
                <a:cs typeface="Courier New"/>
              </a:rPr>
              <a:t>(ii) </a:t>
            </a:r>
            <a:r>
              <a:rPr lang="en-US" i="1" dirty="0">
                <a:solidFill>
                  <a:srgbClr val="008000"/>
                </a:solidFill>
                <a:latin typeface="Courier New"/>
                <a:cs typeface="Courier New"/>
              </a:rPr>
              <a:t>invoking the </a:t>
            </a:r>
            <a:r>
              <a:rPr lang="en-US" i="1" dirty="0" smtClean="0">
                <a:solidFill>
                  <a:srgbClr val="008000"/>
                </a:solidFill>
                <a:latin typeface="Courier New"/>
                <a:cs typeface="Courier New"/>
              </a:rPr>
              <a:t>behavior</a:t>
            </a:r>
          </a:p>
          <a:p>
            <a:pPr marL="68580" indent="0">
              <a:buNone/>
            </a:pPr>
            <a:r>
              <a:rPr lang="en-US" i="1" dirty="0">
                <a:latin typeface="Courier New"/>
                <a:cs typeface="Courier New"/>
              </a:rPr>
              <a:t> </a:t>
            </a:r>
            <a:r>
              <a:rPr lang="en-US" i="1" dirty="0" smtClean="0">
                <a:latin typeface="Courier New"/>
                <a:cs typeface="Courier New"/>
              </a:rPr>
              <a:t>   </a:t>
            </a:r>
            <a:r>
              <a:rPr lang="en-US" dirty="0" smtClean="0">
                <a:latin typeface="Courier New"/>
                <a:cs typeface="Courier New"/>
              </a:rPr>
              <a:t>double </a:t>
            </a:r>
            <a:r>
              <a:rPr lang="en-US" dirty="0">
                <a:latin typeface="Courier New"/>
                <a:cs typeface="Courier New"/>
              </a:rPr>
              <a:t>tax = </a:t>
            </a:r>
            <a:r>
              <a:rPr lang="en-US" dirty="0" err="1" smtClean="0">
                <a:latin typeface="Courier New"/>
                <a:cs typeface="Courier New"/>
              </a:rPr>
              <a:t>inv.calculateTaxes</a:t>
            </a:r>
            <a:r>
              <a:rPr lang="en-US" dirty="0" smtClean="0">
                <a:latin typeface="Courier New"/>
                <a:cs typeface="Courier New"/>
              </a:rPr>
              <a:t>();</a:t>
            </a:r>
          </a:p>
          <a:p>
            <a:pPr marL="68580" indent="0">
              <a:buNone/>
            </a:pPr>
            <a:r>
              <a:rPr lang="en-US" dirty="0">
                <a:latin typeface="Courier New"/>
                <a:cs typeface="Courier New"/>
              </a:rPr>
              <a:t/>
            </a:r>
            <a:br>
              <a:rPr lang="en-US" dirty="0">
                <a:latin typeface="Courier New"/>
                <a:cs typeface="Courier New"/>
              </a:rPr>
            </a:b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 smtClean="0">
                <a:latin typeface="Courier New"/>
                <a:cs typeface="Courier New"/>
              </a:rPr>
              <a:t>   </a:t>
            </a:r>
            <a:r>
              <a:rPr lang="en-US" i="1" dirty="0" smtClean="0">
                <a:solidFill>
                  <a:srgbClr val="008000"/>
                </a:solidFill>
                <a:latin typeface="Courier New"/>
                <a:cs typeface="Courier New"/>
              </a:rPr>
              <a:t>/</a:t>
            </a:r>
            <a:r>
              <a:rPr lang="en-US" i="1" dirty="0">
                <a:solidFill>
                  <a:srgbClr val="008000"/>
                </a:solidFill>
                <a:latin typeface="Courier New"/>
                <a:cs typeface="Courier New"/>
              </a:rPr>
              <a:t>/ </a:t>
            </a:r>
            <a:r>
              <a:rPr lang="en-US" i="1" dirty="0" smtClean="0">
                <a:solidFill>
                  <a:srgbClr val="008000"/>
                </a:solidFill>
                <a:latin typeface="Courier New"/>
                <a:cs typeface="Courier New"/>
              </a:rPr>
              <a:t>(iii) </a:t>
            </a:r>
            <a:r>
              <a:rPr lang="en-US" i="1" dirty="0">
                <a:solidFill>
                  <a:srgbClr val="008000"/>
                </a:solidFill>
                <a:latin typeface="Courier New"/>
                <a:cs typeface="Courier New"/>
              </a:rPr>
              <a:t>validating the output</a:t>
            </a:r>
            <a:br>
              <a:rPr lang="en-US" i="1" dirty="0">
                <a:solidFill>
                  <a:srgbClr val="008000"/>
                </a:solidFill>
                <a:latin typeface="Courier New"/>
                <a:cs typeface="Courier New"/>
              </a:rPr>
            </a:br>
            <a:r>
              <a:rPr lang="en-US" i="1" dirty="0" smtClean="0">
                <a:latin typeface="Courier New"/>
                <a:cs typeface="Courier New"/>
              </a:rPr>
              <a:t>    </a:t>
            </a:r>
            <a:r>
              <a:rPr lang="en-US" dirty="0" err="1" smtClean="0">
                <a:latin typeface="Courier New"/>
                <a:cs typeface="Courier New"/>
              </a:rPr>
              <a:t>assertEquals</a:t>
            </a:r>
            <a:r>
              <a:rPr lang="en-US" dirty="0" smtClean="0">
                <a:latin typeface="Courier New"/>
                <a:cs typeface="Courier New"/>
              </a:rPr>
              <a:t> </a:t>
            </a:r>
            <a:r>
              <a:rPr lang="en-US" dirty="0">
                <a:latin typeface="Courier New"/>
                <a:cs typeface="Courier New"/>
              </a:rPr>
              <a:t>(5000 ∗ 0.06 , tax </a:t>
            </a:r>
            <a:r>
              <a:rPr lang="en-US" dirty="0" smtClean="0">
                <a:latin typeface="Courier New"/>
                <a:cs typeface="Courier New"/>
              </a:rPr>
              <a:t>); </a:t>
            </a:r>
            <a:endParaRPr lang="en-US" dirty="0">
              <a:latin typeface="Courier New"/>
              <a:cs typeface="Courier New"/>
            </a:endParaRPr>
          </a:p>
          <a:p>
            <a:pPr marL="68580" indent="0">
              <a:buNone/>
            </a:pPr>
            <a:r>
              <a:rPr lang="en-US" dirty="0" smtClean="0">
                <a:latin typeface="Courier New"/>
                <a:cs typeface="Courier New"/>
              </a:rPr>
              <a:t>  } </a:t>
            </a:r>
          </a:p>
          <a:p>
            <a:pPr marL="68580" indent="0">
              <a:buNone/>
            </a:pPr>
            <a:r>
              <a:rPr lang="en-US" dirty="0" smtClean="0">
                <a:latin typeface="Courier New"/>
                <a:cs typeface="Courier New"/>
              </a:rPr>
              <a:t>} </a:t>
            </a:r>
            <a:endParaRPr lang="en-US" dirty="0">
              <a:latin typeface="Courier New"/>
              <a:cs typeface="Courier New"/>
            </a:endParaRPr>
          </a:p>
          <a:p>
            <a:pPr marL="68580" indent="0">
              <a:buNone/>
            </a:pPr>
            <a:endParaRPr lang="en-US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97048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would…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… a test contain more than one assert?</a:t>
            </a:r>
          </a:p>
          <a:p>
            <a:r>
              <a:rPr lang="en-US" dirty="0" smtClean="0"/>
              <a:t>Is it a smell of bad code/design?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98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selected 22 projects</a:t>
            </a:r>
          </a:p>
          <a:p>
            <a:pPr lvl="1"/>
            <a:r>
              <a:rPr lang="en-US" dirty="0" smtClean="0"/>
              <a:t>19 from ASF</a:t>
            </a:r>
          </a:p>
          <a:p>
            <a:pPr lvl="1"/>
            <a:r>
              <a:rPr lang="en-US" dirty="0" smtClean="0"/>
              <a:t>3 from a Brazilian consultancy</a:t>
            </a:r>
          </a:p>
          <a:p>
            <a:r>
              <a:rPr lang="en-US" dirty="0" smtClean="0"/>
              <a:t>Data extraction from all projects</a:t>
            </a:r>
          </a:p>
          <a:p>
            <a:pPr lvl="1"/>
            <a:r>
              <a:rPr lang="en-US" dirty="0" smtClean="0"/>
              <a:t>Code metrics</a:t>
            </a:r>
          </a:p>
          <a:p>
            <a:r>
              <a:rPr lang="en-US" dirty="0" smtClean="0"/>
              <a:t>Statistical Test</a:t>
            </a:r>
          </a:p>
          <a:p>
            <a:r>
              <a:rPr lang="en-US" dirty="0" smtClean="0"/>
              <a:t>Qualitative Analysis</a:t>
            </a:r>
          </a:p>
        </p:txBody>
      </p:sp>
    </p:spTree>
    <p:extLst>
      <p:ext uri="{BB962C8B-B14F-4D97-AF65-F5344CB8AC3E}">
        <p14:creationId xmlns:p14="http://schemas.microsoft.com/office/powerpoint/2010/main" val="2360970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Hypotheses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H1: Code tested by only one assert does not present lower </a:t>
            </a:r>
            <a:r>
              <a:rPr lang="en-US" dirty="0" err="1" smtClean="0"/>
              <a:t>cyclomatic</a:t>
            </a:r>
            <a:r>
              <a:rPr lang="en-US" dirty="0" smtClean="0"/>
              <a:t> complexity than code tested by more than one assert</a:t>
            </a:r>
          </a:p>
          <a:p>
            <a:r>
              <a:rPr lang="en-US" dirty="0" smtClean="0"/>
              <a:t>H2: </a:t>
            </a:r>
            <a:r>
              <a:rPr lang="en-US" dirty="0"/>
              <a:t>Code tested by only one assert does not present </a:t>
            </a:r>
            <a:r>
              <a:rPr lang="en-US" dirty="0" smtClean="0"/>
              <a:t>fewer lines of code than </a:t>
            </a:r>
            <a:r>
              <a:rPr lang="en-US" dirty="0"/>
              <a:t>code tested by more than one </a:t>
            </a:r>
            <a:r>
              <a:rPr lang="en-US" dirty="0" smtClean="0"/>
              <a:t>assert</a:t>
            </a:r>
            <a:endParaRPr lang="en-US" dirty="0"/>
          </a:p>
          <a:p>
            <a:r>
              <a:rPr lang="en-US" dirty="0" smtClean="0"/>
              <a:t>H3: </a:t>
            </a:r>
            <a:r>
              <a:rPr lang="en-US" dirty="0"/>
              <a:t>Code tested by only one assert does not present lower </a:t>
            </a:r>
            <a:r>
              <a:rPr lang="en-US" dirty="0" smtClean="0"/>
              <a:t>quantity of method invocations than </a:t>
            </a:r>
            <a:r>
              <a:rPr lang="en-US" dirty="0"/>
              <a:t>code tested by more than one </a:t>
            </a:r>
            <a:r>
              <a:rPr lang="en-US" dirty="0" smtClean="0"/>
              <a:t>assert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553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Extraction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Test code</a:t>
            </a:r>
          </a:p>
          <a:p>
            <a:pPr lvl="1"/>
            <a:r>
              <a:rPr lang="en-US" dirty="0" smtClean="0"/>
              <a:t>Number of asserts per test</a:t>
            </a:r>
          </a:p>
          <a:p>
            <a:pPr lvl="1"/>
            <a:r>
              <a:rPr lang="en-US" dirty="0" smtClean="0"/>
              <a:t>Production method being tested</a:t>
            </a:r>
          </a:p>
          <a:p>
            <a:r>
              <a:rPr lang="en-US" dirty="0" smtClean="0"/>
              <a:t>Production code</a:t>
            </a:r>
          </a:p>
          <a:p>
            <a:pPr lvl="1"/>
            <a:r>
              <a:rPr lang="en-US" dirty="0" err="1" smtClean="0"/>
              <a:t>Cyclomatic</a:t>
            </a:r>
            <a:r>
              <a:rPr lang="en-US" dirty="0" smtClean="0"/>
              <a:t> Complexity (McCabe, 1976)</a:t>
            </a:r>
          </a:p>
          <a:p>
            <a:pPr lvl="1"/>
            <a:r>
              <a:rPr lang="en-US" dirty="0" smtClean="0"/>
              <a:t>Number of method invocations (Li and Henry, 1993)</a:t>
            </a:r>
          </a:p>
          <a:p>
            <a:pPr lvl="1"/>
            <a:r>
              <a:rPr lang="en-US" dirty="0" smtClean="0"/>
              <a:t>Lines of 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177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Heuristic to Extract the Production Method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77436" y="2601379"/>
            <a:ext cx="4334050" cy="3200708"/>
          </a:xfrm>
        </p:spPr>
        <p:txBody>
          <a:bodyPr>
            <a:noAutofit/>
          </a:bodyPr>
          <a:lstStyle/>
          <a:p>
            <a:pPr marL="68580" indent="0">
              <a:buNone/>
            </a:pPr>
            <a:r>
              <a:rPr lang="en-US" sz="1400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lang="en-US" sz="1400" dirty="0">
                <a:latin typeface="Courier New"/>
                <a:cs typeface="Courier New"/>
              </a:rPr>
              <a:t> </a:t>
            </a:r>
            <a:r>
              <a:rPr lang="en-US" sz="1400" dirty="0" err="1">
                <a:latin typeface="Courier New"/>
                <a:cs typeface="Courier New"/>
              </a:rPr>
              <a:t>InvoiceTest</a:t>
            </a:r>
            <a:r>
              <a:rPr lang="en-US" sz="1400" dirty="0">
                <a:latin typeface="Courier New"/>
                <a:cs typeface="Courier New"/>
              </a:rPr>
              <a:t> </a:t>
            </a:r>
            <a:r>
              <a:rPr lang="en-US" sz="1400" dirty="0" smtClean="0">
                <a:latin typeface="Courier New"/>
                <a:cs typeface="Courier New"/>
              </a:rPr>
              <a:t>{</a:t>
            </a:r>
          </a:p>
          <a:p>
            <a:pPr marL="68580" indent="0">
              <a:buNone/>
            </a:pPr>
            <a:r>
              <a:rPr lang="en-US" sz="1400" dirty="0" smtClean="0">
                <a:latin typeface="Courier New"/>
                <a:cs typeface="Courier New"/>
              </a:rPr>
              <a:t>  </a:t>
            </a:r>
            <a:r>
              <a:rPr lang="en-US" sz="1400" dirty="0" smtClean="0">
                <a:solidFill>
                  <a:schemeClr val="accent1"/>
                </a:solidFill>
                <a:latin typeface="Courier New"/>
                <a:cs typeface="Courier New"/>
              </a:rPr>
              <a:t>@</a:t>
            </a:r>
            <a:r>
              <a:rPr lang="en-US" sz="1400" dirty="0">
                <a:solidFill>
                  <a:schemeClr val="accent1"/>
                </a:solidFill>
                <a:latin typeface="Courier New"/>
                <a:cs typeface="Courier New"/>
              </a:rPr>
              <a:t>Test </a:t>
            </a:r>
          </a:p>
          <a:p>
            <a:pPr marL="68580" indent="0">
              <a:buNone/>
            </a:pPr>
            <a:r>
              <a:rPr lang="en-US" sz="1400" dirty="0" smtClean="0">
                <a:latin typeface="Courier New"/>
                <a:cs typeface="Courier New"/>
              </a:rPr>
              <a:t>  </a:t>
            </a:r>
            <a:r>
              <a:rPr lang="en-US" sz="1400" dirty="0" smtClean="0">
                <a:solidFill>
                  <a:srgbClr val="0000FF"/>
                </a:solidFill>
                <a:latin typeface="Courier New"/>
                <a:cs typeface="Courier New"/>
              </a:rPr>
              <a:t>public </a:t>
            </a:r>
            <a:r>
              <a:rPr lang="en-US" sz="1400" dirty="0">
                <a:solidFill>
                  <a:srgbClr val="0000FF"/>
                </a:solidFill>
                <a:latin typeface="Courier New"/>
                <a:cs typeface="Courier New"/>
              </a:rPr>
              <a:t>void </a:t>
            </a:r>
            <a:r>
              <a:rPr lang="en-US" sz="1400" dirty="0" err="1" smtClean="0">
                <a:latin typeface="Courier New"/>
                <a:cs typeface="Courier New"/>
              </a:rPr>
              <a:t>shouldCalculateTaxes</a:t>
            </a:r>
            <a:r>
              <a:rPr lang="en-US" sz="1400" dirty="0" smtClean="0">
                <a:latin typeface="Courier New"/>
                <a:cs typeface="Courier New"/>
              </a:rPr>
              <a:t>(</a:t>
            </a:r>
            <a:r>
              <a:rPr lang="en-US" sz="1400" dirty="0">
                <a:latin typeface="Courier New"/>
                <a:cs typeface="Courier New"/>
              </a:rPr>
              <a:t>) {</a:t>
            </a:r>
            <a:br>
              <a:rPr lang="en-US" sz="1400" dirty="0">
                <a:latin typeface="Courier New"/>
                <a:cs typeface="Courier New"/>
              </a:rPr>
            </a:br>
            <a:r>
              <a:rPr lang="en-US" sz="1400" dirty="0" smtClean="0">
                <a:latin typeface="Courier New"/>
                <a:cs typeface="Courier New"/>
              </a:rPr>
              <a:t>    </a:t>
            </a:r>
            <a:r>
              <a:rPr lang="en-US" sz="1400" i="1" dirty="0" smtClean="0">
                <a:solidFill>
                  <a:srgbClr val="008000"/>
                </a:solidFill>
                <a:latin typeface="Courier New"/>
                <a:cs typeface="Courier New"/>
              </a:rPr>
              <a:t>/</a:t>
            </a:r>
            <a:r>
              <a:rPr lang="en-US" sz="1400" i="1" dirty="0">
                <a:solidFill>
                  <a:srgbClr val="008000"/>
                </a:solidFill>
                <a:latin typeface="Courier New"/>
                <a:cs typeface="Courier New"/>
              </a:rPr>
              <a:t>/ (</a:t>
            </a:r>
            <a:r>
              <a:rPr lang="en-US" sz="1400" i="1" dirty="0" err="1">
                <a:solidFill>
                  <a:srgbClr val="008000"/>
                </a:solidFill>
                <a:latin typeface="Courier New"/>
                <a:cs typeface="Courier New"/>
              </a:rPr>
              <a:t>i</a:t>
            </a:r>
            <a:r>
              <a:rPr lang="en-US" sz="1400" i="1" dirty="0">
                <a:solidFill>
                  <a:srgbClr val="008000"/>
                </a:solidFill>
                <a:latin typeface="Courier New"/>
                <a:cs typeface="Courier New"/>
              </a:rPr>
              <a:t>) setting up the scenario</a:t>
            </a:r>
            <a:br>
              <a:rPr lang="en-US" sz="1400" i="1" dirty="0">
                <a:solidFill>
                  <a:srgbClr val="008000"/>
                </a:solidFill>
                <a:latin typeface="Courier New"/>
                <a:cs typeface="Courier New"/>
              </a:rPr>
            </a:br>
            <a:r>
              <a:rPr lang="en-US" sz="1400" i="1" dirty="0" smtClean="0">
                <a:latin typeface="Courier New"/>
                <a:cs typeface="Courier New"/>
              </a:rPr>
              <a:t>    </a:t>
            </a:r>
            <a:r>
              <a:rPr lang="en-US" sz="1400" dirty="0" smtClean="0">
                <a:latin typeface="Courier New"/>
                <a:cs typeface="Courier New"/>
              </a:rPr>
              <a:t>Invoice </a:t>
            </a:r>
            <a:r>
              <a:rPr lang="en-US" sz="1400" dirty="0" err="1">
                <a:latin typeface="Courier New"/>
                <a:cs typeface="Courier New"/>
              </a:rPr>
              <a:t>inv</a:t>
            </a:r>
            <a:r>
              <a:rPr lang="en-US" sz="1400" dirty="0">
                <a:latin typeface="Courier New"/>
                <a:cs typeface="Courier New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lang="en-US" sz="1400" dirty="0">
                <a:latin typeface="Courier New"/>
                <a:cs typeface="Courier New"/>
              </a:rPr>
              <a:t> Invoice</a:t>
            </a:r>
            <a:r>
              <a:rPr lang="en-US" sz="1400" dirty="0" smtClean="0">
                <a:latin typeface="Courier New"/>
                <a:cs typeface="Courier New"/>
              </a:rPr>
              <a:t>(5000.0</a:t>
            </a:r>
            <a:r>
              <a:rPr lang="en-US" sz="1400" dirty="0">
                <a:latin typeface="Courier New"/>
                <a:cs typeface="Courier New"/>
              </a:rPr>
              <a:t>); </a:t>
            </a:r>
            <a:endParaRPr lang="en-US" sz="1400" dirty="0" smtClean="0">
              <a:latin typeface="Courier New"/>
              <a:cs typeface="Courier New"/>
            </a:endParaRPr>
          </a:p>
          <a:p>
            <a:pPr marL="68580" indent="0">
              <a:buNone/>
            </a:pPr>
            <a:endParaRPr lang="en-US" sz="1400" dirty="0" smtClean="0">
              <a:latin typeface="Courier New"/>
              <a:cs typeface="Courier New"/>
            </a:endParaRPr>
          </a:p>
          <a:p>
            <a:pPr marL="68580" indent="0">
              <a:buNone/>
            </a:pPr>
            <a:r>
              <a:rPr lang="en-US" sz="1400" i="1" dirty="0">
                <a:latin typeface="Courier New"/>
                <a:cs typeface="Courier New"/>
              </a:rPr>
              <a:t> </a:t>
            </a:r>
            <a:r>
              <a:rPr lang="en-US" sz="1400" i="1" dirty="0" smtClean="0">
                <a:latin typeface="Courier New"/>
                <a:cs typeface="Courier New"/>
              </a:rPr>
              <a:t>  </a:t>
            </a:r>
            <a:r>
              <a:rPr lang="en-US" sz="1400" i="1" dirty="0" smtClean="0">
                <a:solidFill>
                  <a:srgbClr val="008000"/>
                </a:solidFill>
                <a:latin typeface="Courier New"/>
                <a:cs typeface="Courier New"/>
              </a:rPr>
              <a:t> /</a:t>
            </a:r>
            <a:r>
              <a:rPr lang="en-US" sz="1400" i="1" dirty="0">
                <a:solidFill>
                  <a:srgbClr val="008000"/>
                </a:solidFill>
                <a:latin typeface="Courier New"/>
                <a:cs typeface="Courier New"/>
              </a:rPr>
              <a:t>/ </a:t>
            </a:r>
            <a:r>
              <a:rPr lang="en-US" sz="1400" i="1" dirty="0" smtClean="0">
                <a:solidFill>
                  <a:srgbClr val="008000"/>
                </a:solidFill>
                <a:latin typeface="Courier New"/>
                <a:cs typeface="Courier New"/>
              </a:rPr>
              <a:t>(ii) </a:t>
            </a:r>
            <a:r>
              <a:rPr lang="en-US" sz="1400" i="1" dirty="0">
                <a:solidFill>
                  <a:srgbClr val="008000"/>
                </a:solidFill>
                <a:latin typeface="Courier New"/>
                <a:cs typeface="Courier New"/>
              </a:rPr>
              <a:t>invoking the </a:t>
            </a:r>
            <a:r>
              <a:rPr lang="en-US" sz="1400" i="1" dirty="0" smtClean="0">
                <a:solidFill>
                  <a:srgbClr val="008000"/>
                </a:solidFill>
                <a:latin typeface="Courier New"/>
                <a:cs typeface="Courier New"/>
              </a:rPr>
              <a:t>behavior</a:t>
            </a:r>
          </a:p>
          <a:p>
            <a:pPr marL="68580" indent="0">
              <a:buNone/>
            </a:pPr>
            <a:r>
              <a:rPr lang="en-US" sz="1400" i="1" dirty="0">
                <a:latin typeface="Courier New"/>
                <a:cs typeface="Courier New"/>
              </a:rPr>
              <a:t> </a:t>
            </a:r>
            <a:r>
              <a:rPr lang="en-US" sz="1400" i="1" dirty="0" smtClean="0">
                <a:latin typeface="Courier New"/>
                <a:cs typeface="Courier New"/>
              </a:rPr>
              <a:t>   </a:t>
            </a:r>
            <a:r>
              <a:rPr lang="en-US" sz="1400" dirty="0" smtClean="0">
                <a:latin typeface="Courier New"/>
                <a:cs typeface="Courier New"/>
              </a:rPr>
              <a:t>double </a:t>
            </a:r>
            <a:r>
              <a:rPr lang="en-US" sz="1400" dirty="0">
                <a:latin typeface="Courier New"/>
                <a:cs typeface="Courier New"/>
              </a:rPr>
              <a:t>tax = </a:t>
            </a:r>
            <a:r>
              <a:rPr lang="en-US" sz="1400" dirty="0" err="1" smtClean="0">
                <a:latin typeface="Courier New"/>
                <a:cs typeface="Courier New"/>
              </a:rPr>
              <a:t>inv.calculateTaxes</a:t>
            </a:r>
            <a:r>
              <a:rPr lang="en-US" sz="1400" dirty="0" smtClean="0">
                <a:latin typeface="Courier New"/>
                <a:cs typeface="Courier New"/>
              </a:rPr>
              <a:t>();</a:t>
            </a:r>
          </a:p>
          <a:p>
            <a:pPr marL="68580" indent="0">
              <a:buNone/>
            </a:pPr>
            <a:r>
              <a:rPr lang="en-US" sz="1400" dirty="0">
                <a:latin typeface="Courier New"/>
                <a:cs typeface="Courier New"/>
              </a:rPr>
              <a:t/>
            </a:r>
            <a:br>
              <a:rPr lang="en-US" sz="1400" dirty="0">
                <a:latin typeface="Courier New"/>
                <a:cs typeface="Courier New"/>
              </a:rPr>
            </a:br>
            <a:r>
              <a:rPr lang="en-US" sz="1400" dirty="0">
                <a:latin typeface="Courier New"/>
                <a:cs typeface="Courier New"/>
              </a:rPr>
              <a:t> </a:t>
            </a:r>
            <a:r>
              <a:rPr lang="en-US" sz="1400" dirty="0" smtClean="0">
                <a:latin typeface="Courier New"/>
                <a:cs typeface="Courier New"/>
              </a:rPr>
              <a:t>   </a:t>
            </a:r>
            <a:r>
              <a:rPr lang="en-US" sz="1400" i="1" dirty="0" smtClean="0">
                <a:solidFill>
                  <a:srgbClr val="008000"/>
                </a:solidFill>
                <a:latin typeface="Courier New"/>
                <a:cs typeface="Courier New"/>
              </a:rPr>
              <a:t>/</a:t>
            </a:r>
            <a:r>
              <a:rPr lang="en-US" sz="1400" i="1" dirty="0">
                <a:solidFill>
                  <a:srgbClr val="008000"/>
                </a:solidFill>
                <a:latin typeface="Courier New"/>
                <a:cs typeface="Courier New"/>
              </a:rPr>
              <a:t>/ </a:t>
            </a:r>
            <a:r>
              <a:rPr lang="en-US" sz="1400" i="1" dirty="0" smtClean="0">
                <a:solidFill>
                  <a:srgbClr val="008000"/>
                </a:solidFill>
                <a:latin typeface="Courier New"/>
                <a:cs typeface="Courier New"/>
              </a:rPr>
              <a:t>(iii) </a:t>
            </a:r>
            <a:r>
              <a:rPr lang="en-US" sz="1400" i="1" dirty="0">
                <a:solidFill>
                  <a:srgbClr val="008000"/>
                </a:solidFill>
                <a:latin typeface="Courier New"/>
                <a:cs typeface="Courier New"/>
              </a:rPr>
              <a:t>validating the output</a:t>
            </a:r>
            <a:br>
              <a:rPr lang="en-US" sz="1400" i="1" dirty="0">
                <a:solidFill>
                  <a:srgbClr val="008000"/>
                </a:solidFill>
                <a:latin typeface="Courier New"/>
                <a:cs typeface="Courier New"/>
              </a:rPr>
            </a:br>
            <a:r>
              <a:rPr lang="en-US" sz="1400" i="1" dirty="0" smtClean="0">
                <a:latin typeface="Courier New"/>
                <a:cs typeface="Courier New"/>
              </a:rPr>
              <a:t>    </a:t>
            </a:r>
            <a:r>
              <a:rPr lang="en-US" sz="1400" dirty="0" err="1" smtClean="0">
                <a:latin typeface="Courier New"/>
                <a:cs typeface="Courier New"/>
              </a:rPr>
              <a:t>assertEquals</a:t>
            </a:r>
            <a:r>
              <a:rPr lang="en-US" sz="1400" dirty="0" smtClean="0">
                <a:latin typeface="Courier New"/>
                <a:cs typeface="Courier New"/>
              </a:rPr>
              <a:t> </a:t>
            </a:r>
            <a:r>
              <a:rPr lang="en-US" sz="1400" dirty="0">
                <a:latin typeface="Courier New"/>
                <a:cs typeface="Courier New"/>
              </a:rPr>
              <a:t>(5000 ∗ 0.06 , tax </a:t>
            </a:r>
            <a:r>
              <a:rPr lang="en-US" sz="1400" dirty="0" smtClean="0">
                <a:latin typeface="Courier New"/>
                <a:cs typeface="Courier New"/>
              </a:rPr>
              <a:t>); </a:t>
            </a:r>
            <a:endParaRPr lang="en-US" sz="1400" dirty="0">
              <a:latin typeface="Courier New"/>
              <a:cs typeface="Courier New"/>
            </a:endParaRPr>
          </a:p>
          <a:p>
            <a:pPr marL="68580" indent="0">
              <a:buNone/>
            </a:pPr>
            <a:r>
              <a:rPr lang="en-US" sz="1400" dirty="0" smtClean="0">
                <a:latin typeface="Courier New"/>
                <a:cs typeface="Courier New"/>
              </a:rPr>
              <a:t>  }</a:t>
            </a:r>
            <a:br>
              <a:rPr lang="en-US" sz="1400" dirty="0" smtClean="0">
                <a:latin typeface="Courier New"/>
                <a:cs typeface="Courier New"/>
              </a:rPr>
            </a:br>
            <a:r>
              <a:rPr lang="en-US" sz="1400" dirty="0" smtClean="0">
                <a:latin typeface="Courier New"/>
                <a:cs typeface="Courier New"/>
              </a:rPr>
              <a:t>} </a:t>
            </a:r>
            <a:endParaRPr lang="en-US" sz="1400" dirty="0">
              <a:latin typeface="Courier New"/>
              <a:cs typeface="Courier New"/>
            </a:endParaRPr>
          </a:p>
          <a:p>
            <a:pPr marL="68580" indent="0">
              <a:buNone/>
            </a:pP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016777" y="2601379"/>
            <a:ext cx="3713568" cy="142044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>
              <a:buFont typeface="Wingdings 2" pitchFamily="18" charset="2"/>
              <a:buNone/>
            </a:pPr>
            <a:r>
              <a:rPr lang="en-US" sz="2000" dirty="0" smtClean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lang="en-US" sz="2000" dirty="0" smtClean="0">
                <a:latin typeface="Courier New"/>
                <a:cs typeface="Courier New"/>
              </a:rPr>
              <a:t> Invoice { </a:t>
            </a:r>
          </a:p>
          <a:p>
            <a:pPr marL="68580" indent="0">
              <a:buFont typeface="Wingdings 2" pitchFamily="18" charset="2"/>
              <a:buNone/>
            </a:pPr>
            <a:r>
              <a:rPr lang="en-US" sz="200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Courier New"/>
                <a:cs typeface="Courier New"/>
              </a:rPr>
              <a:t> public double </a:t>
            </a:r>
            <a:r>
              <a:rPr lang="en-US" sz="2000" dirty="0" err="1" smtClean="0">
                <a:latin typeface="Courier New"/>
                <a:cs typeface="Courier New"/>
              </a:rPr>
              <a:t>calculateTaxes</a:t>
            </a:r>
            <a:r>
              <a:rPr lang="en-US" sz="2000" dirty="0" smtClean="0">
                <a:latin typeface="Courier New"/>
                <a:cs typeface="Courier New"/>
              </a:rPr>
              <a:t>() </a:t>
            </a:r>
          </a:p>
          <a:p>
            <a:pPr marL="68580" indent="0">
              <a:buFont typeface="Wingdings 2" pitchFamily="18" charset="2"/>
              <a:buNone/>
            </a:pPr>
            <a:r>
              <a:rPr lang="en-US" sz="2000" dirty="0">
                <a:latin typeface="Courier New"/>
                <a:cs typeface="Courier New"/>
              </a:rPr>
              <a:t> </a:t>
            </a:r>
            <a:r>
              <a:rPr lang="en-US" sz="2000" dirty="0" smtClean="0">
                <a:latin typeface="Courier New"/>
                <a:cs typeface="Courier New"/>
              </a:rPr>
              <a:t> {</a:t>
            </a:r>
          </a:p>
          <a:p>
            <a:pPr marL="68580" indent="0">
              <a:buFont typeface="Wingdings 2" pitchFamily="18" charset="2"/>
              <a:buNone/>
            </a:pPr>
            <a:r>
              <a:rPr lang="en-US" sz="2000" dirty="0" smtClean="0">
                <a:solidFill>
                  <a:srgbClr val="008000"/>
                </a:solidFill>
                <a:latin typeface="Courier New"/>
                <a:cs typeface="Courier New"/>
              </a:rPr>
              <a:t>    // something…</a:t>
            </a:r>
            <a:endParaRPr lang="en-US" sz="2000" dirty="0">
              <a:solidFill>
                <a:srgbClr val="008000"/>
              </a:solidFill>
              <a:latin typeface="Courier New"/>
              <a:cs typeface="Courier New"/>
            </a:endParaRPr>
          </a:p>
          <a:p>
            <a:pPr marL="68580" indent="0">
              <a:buFont typeface="Wingdings 2" pitchFamily="18" charset="2"/>
              <a:buNone/>
            </a:pPr>
            <a:r>
              <a:rPr lang="en-US" sz="2000" dirty="0" smtClean="0">
                <a:latin typeface="Courier New"/>
                <a:cs typeface="Courier New"/>
              </a:rPr>
              <a:t>  } </a:t>
            </a:r>
          </a:p>
          <a:p>
            <a:pPr marL="68580" indent="0">
              <a:buFont typeface="Wingdings 2" pitchFamily="18" charset="2"/>
              <a:buNone/>
            </a:pPr>
            <a:r>
              <a:rPr lang="en-US" sz="2000" dirty="0" smtClean="0">
                <a:latin typeface="Courier New"/>
                <a:cs typeface="Courier New"/>
              </a:rPr>
              <a:t>} </a:t>
            </a:r>
          </a:p>
          <a:p>
            <a:pPr marL="68580" indent="0">
              <a:buFont typeface="Wingdings 2" pitchFamily="18" charset="2"/>
              <a:buNone/>
            </a:pPr>
            <a:endParaRPr lang="en-US" sz="13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68676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Selected Projects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Pre-selected all 213 projects from Apache</a:t>
            </a:r>
          </a:p>
          <a:p>
            <a:r>
              <a:rPr lang="en-US" dirty="0" smtClean="0"/>
              <a:t>Eliminated those because of:</a:t>
            </a:r>
          </a:p>
          <a:p>
            <a:pPr lvl="1"/>
            <a:r>
              <a:rPr lang="en-US" dirty="0" smtClean="0"/>
              <a:t>Minimum test ratio (unit tests / production methods &gt;= 0.2)</a:t>
            </a:r>
          </a:p>
          <a:p>
            <a:pPr lvl="1"/>
            <a:r>
              <a:rPr lang="en-US" dirty="0" smtClean="0"/>
              <a:t>Success in production method detection algorithm (higher than 50% in all unit tests that contain more than 1 assert)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98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832" y="1007819"/>
            <a:ext cx="2599260" cy="2167500"/>
          </a:xfrm>
        </p:spPr>
        <p:txBody>
          <a:bodyPr>
            <a:normAutofit/>
          </a:bodyPr>
          <a:lstStyle/>
          <a:p>
            <a:r>
              <a:rPr lang="en-US" dirty="0" smtClean="0"/>
              <a:t>Selected Projects 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Picture 3" descr="Screen Shot 2013-03-05 at 6.46.0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505" y="381000"/>
            <a:ext cx="49657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989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124304"/>
            <a:ext cx="3056556" cy="199579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Asserts Distribution in Selected Projects</a:t>
            </a:r>
            <a:endParaRPr lang="en-US" dirty="0"/>
          </a:p>
        </p:txBody>
      </p:sp>
      <p:pic>
        <p:nvPicPr>
          <p:cNvPr id="4" name="Picture 3" descr="Screen Shot 2013-03-05 at 6.47.0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433" y="1027664"/>
            <a:ext cx="42164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758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Statistical Test</a:t>
            </a:r>
            <a:endParaRPr lang="en-US" dirty="0"/>
          </a:p>
        </p:txBody>
      </p:sp>
      <p:pic>
        <p:nvPicPr>
          <p:cNvPr id="5" name="Picture 4" descr="Screen Shot 2013-03-05 at 6.48.0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532" y="3345278"/>
            <a:ext cx="3111500" cy="24003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Separation in two different groups</a:t>
            </a:r>
          </a:p>
          <a:p>
            <a:pPr lvl="1"/>
            <a:r>
              <a:rPr lang="en-US" dirty="0" smtClean="0"/>
              <a:t>The same method can appear in both groups</a:t>
            </a:r>
          </a:p>
          <a:p>
            <a:pPr lvl="1"/>
            <a:r>
              <a:rPr lang="en-US" dirty="0" smtClean="0"/>
              <a:t>No duplicates</a:t>
            </a:r>
          </a:p>
          <a:p>
            <a:r>
              <a:rPr lang="en-US" dirty="0" smtClean="0"/>
              <a:t>Wilcoxon Signed-Rank Test</a:t>
            </a:r>
          </a:p>
          <a:p>
            <a:endParaRPr lang="en-US" dirty="0" smtClean="0"/>
          </a:p>
          <a:p>
            <a:pPr marL="6858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397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3"/>
            <a:ext cx="2615822" cy="129170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Results of the Test</a:t>
            </a:r>
            <a:endParaRPr lang="en-US" dirty="0"/>
          </a:p>
        </p:txBody>
      </p:sp>
      <p:pic>
        <p:nvPicPr>
          <p:cNvPr id="4" name="Picture 3" descr="Screen Shot 2013-03-05 at 6.50.2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922" y="979578"/>
            <a:ext cx="47244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111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more than 1 assert?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23652"/>
            <a:ext cx="7024742" cy="3508977"/>
          </a:xfrm>
        </p:spPr>
        <p:txBody>
          <a:bodyPr>
            <a:normAutofit/>
          </a:bodyPr>
          <a:lstStyle/>
          <a:p>
            <a:r>
              <a:rPr lang="en-US" dirty="0" smtClean="0"/>
              <a:t>130 tests randomly selected</a:t>
            </a:r>
          </a:p>
          <a:p>
            <a:r>
              <a:rPr lang="en-US" dirty="0" smtClean="0"/>
              <a:t>Qualitative analysis:</a:t>
            </a:r>
          </a:p>
          <a:p>
            <a:pPr lvl="1"/>
            <a:r>
              <a:rPr lang="en-US" dirty="0" smtClean="0"/>
              <a:t>More than one assert for the same object (40.4%)</a:t>
            </a:r>
          </a:p>
          <a:p>
            <a:pPr lvl="1"/>
            <a:r>
              <a:rPr lang="en-US" dirty="0" smtClean="0"/>
              <a:t>Different inputs to the same method (38.9%)</a:t>
            </a:r>
          </a:p>
          <a:p>
            <a:pPr lvl="1"/>
            <a:r>
              <a:rPr lang="en-US" dirty="0" smtClean="0"/>
              <a:t>List/Array (9.9%)</a:t>
            </a:r>
          </a:p>
          <a:p>
            <a:pPr lvl="1"/>
            <a:r>
              <a:rPr lang="en-US" dirty="0" smtClean="0"/>
              <a:t>Others (6.8%)</a:t>
            </a:r>
          </a:p>
          <a:p>
            <a:pPr lvl="1"/>
            <a:r>
              <a:rPr lang="en-US" dirty="0" smtClean="0"/>
              <a:t>Extra assert to check if object is not null (3.8%)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302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“Asserted Objects”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coined the term “asserted objects”</a:t>
            </a:r>
          </a:p>
          <a:p>
            <a:pPr lvl="1"/>
            <a:r>
              <a:rPr lang="en-US" dirty="0" smtClean="0"/>
              <a:t>It counts not the number of asserts in a unit test, but the number of different instances of objects that are being asserted</a:t>
            </a:r>
          </a:p>
          <a:p>
            <a:pPr lvl="1"/>
            <a:endParaRPr lang="en-US" dirty="0"/>
          </a:p>
          <a:p>
            <a:pPr marL="68580" indent="0" algn="ctr">
              <a:buNone/>
            </a:pPr>
            <a:r>
              <a:rPr lang="en-US" dirty="0" err="1" smtClean="0">
                <a:latin typeface="Courier New"/>
                <a:cs typeface="Courier New"/>
              </a:rPr>
              <a:t>assertEquals</a:t>
            </a:r>
            <a:r>
              <a:rPr lang="en-US" dirty="0" smtClean="0">
                <a:latin typeface="Courier New"/>
                <a:cs typeface="Courier New"/>
              </a:rPr>
              <a:t>(10, </a:t>
            </a:r>
            <a:r>
              <a:rPr lang="en-US" dirty="0" err="1" smtClean="0">
                <a:latin typeface="Courier New"/>
                <a:cs typeface="Courier New"/>
              </a:rPr>
              <a:t>obj.getA</a:t>
            </a:r>
            <a:r>
              <a:rPr lang="en-US" dirty="0" smtClean="0">
                <a:latin typeface="Courier New"/>
                <a:cs typeface="Courier New"/>
              </a:rPr>
              <a:t>());</a:t>
            </a:r>
          </a:p>
          <a:p>
            <a:pPr marL="68580" indent="0" algn="ctr">
              <a:buNone/>
            </a:pPr>
            <a:r>
              <a:rPr lang="en-US" dirty="0" err="1" smtClean="0">
                <a:latin typeface="Courier New"/>
                <a:cs typeface="Courier New"/>
              </a:rPr>
              <a:t>assertEquals</a:t>
            </a:r>
            <a:r>
              <a:rPr lang="en-US" dirty="0" smtClean="0">
                <a:latin typeface="Courier New"/>
                <a:cs typeface="Courier New"/>
              </a:rPr>
              <a:t>(20, </a:t>
            </a:r>
            <a:r>
              <a:rPr lang="en-US" dirty="0" err="1" smtClean="0">
                <a:latin typeface="Courier New"/>
                <a:cs typeface="Courier New"/>
              </a:rPr>
              <a:t>obj.getB</a:t>
            </a:r>
            <a:r>
              <a:rPr lang="en-US" dirty="0" smtClean="0">
                <a:latin typeface="Courier New"/>
                <a:cs typeface="Courier New"/>
              </a:rPr>
              <a:t>());</a:t>
            </a:r>
          </a:p>
          <a:p>
            <a:pPr marL="68580" indent="0" algn="ctr">
              <a:buNone/>
            </a:pPr>
            <a:r>
              <a:rPr lang="en-US" dirty="0" smtClean="0">
                <a:latin typeface="Century Gothic"/>
                <a:cs typeface="Century Gothic"/>
              </a:rPr>
              <a:t>Counts as 1 “asserted object”</a:t>
            </a:r>
            <a:endParaRPr lang="en-US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00175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3"/>
            <a:ext cx="3305044" cy="184392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Distribution of Asserted Objects</a:t>
            </a:r>
            <a:endParaRPr lang="en-US" sz="3200" dirty="0"/>
          </a:p>
        </p:txBody>
      </p:sp>
      <p:pic>
        <p:nvPicPr>
          <p:cNvPr id="4" name="Picture 3" descr="Screen Shot 2013-03-05 at 6.54.0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799" y="1149098"/>
            <a:ext cx="42164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6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3"/>
            <a:ext cx="2587106" cy="1595427"/>
          </a:xfrm>
        </p:spPr>
        <p:txBody>
          <a:bodyPr/>
          <a:lstStyle/>
          <a:p>
            <a:r>
              <a:rPr lang="en-US" dirty="0" smtClean="0"/>
              <a:t>Results of the Test</a:t>
            </a:r>
            <a:endParaRPr lang="en-US" dirty="0"/>
          </a:p>
        </p:txBody>
      </p:sp>
      <p:pic>
        <p:nvPicPr>
          <p:cNvPr id="4" name="Picture 3" descr="Screen Shot 2013-03-05 at 6.54.3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596" y="1027664"/>
            <a:ext cx="4686300" cy="52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44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of the Tests</a:t>
            </a:r>
            <a:endParaRPr lang="en-US" dirty="0"/>
          </a:p>
        </p:txBody>
      </p:sp>
      <p:pic>
        <p:nvPicPr>
          <p:cNvPr id="4" name="Picture 3" descr="Screen Shot 2013-03-05 at 6.55.0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997" y="2643275"/>
            <a:ext cx="6687237" cy="252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238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23652"/>
            <a:ext cx="6777317" cy="386131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Counting the number of asserts in a unit test does not give valuable feedback about code quality</a:t>
            </a:r>
          </a:p>
          <a:p>
            <a:pPr lvl="1"/>
            <a:r>
              <a:rPr lang="en-US" dirty="0" smtClean="0"/>
              <a:t>But counting the number of asserted objects may provide useful information</a:t>
            </a:r>
          </a:p>
          <a:p>
            <a:pPr lvl="1"/>
            <a:r>
              <a:rPr lang="en-US" dirty="0" smtClean="0"/>
              <a:t>However, the difference between both groups was not “big”</a:t>
            </a:r>
          </a:p>
          <a:p>
            <a:r>
              <a:rPr lang="en-US" dirty="0" smtClean="0"/>
              <a:t>A possible explanation:</a:t>
            </a:r>
          </a:p>
          <a:p>
            <a:pPr lvl="1"/>
            <a:r>
              <a:rPr lang="en-US" dirty="0" smtClean="0"/>
              <a:t>Methods that contain higher CC, lines of code, and method invocations contains many different paths, and developers prefer to write all of it in a single unit test, rather than splitting in many of them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865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Threats to Validity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unit tests variations that are not supported by our tool</a:t>
            </a:r>
          </a:p>
          <a:p>
            <a:r>
              <a:rPr lang="en-US" dirty="0" smtClean="0"/>
              <a:t>The production method detection algorithm</a:t>
            </a:r>
          </a:p>
          <a:p>
            <a:r>
              <a:rPr lang="en-US" dirty="0" smtClean="0"/>
              <a:t>Before/After methods</a:t>
            </a:r>
          </a:p>
          <a:p>
            <a:r>
              <a:rPr lang="en-US" dirty="0" smtClean="0"/>
              <a:t>The projects’ filtering process</a:t>
            </a:r>
          </a:p>
          <a:p>
            <a:r>
              <a:rPr lang="en-US" dirty="0" smtClean="0"/>
              <a:t>Integration and system tests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4344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Related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similar to our work: </a:t>
            </a:r>
            <a:r>
              <a:rPr lang="en-US" dirty="0" err="1" smtClean="0"/>
              <a:t>Bruntink</a:t>
            </a:r>
            <a:r>
              <a:rPr lang="en-US" dirty="0" smtClean="0"/>
              <a:t> and van </a:t>
            </a:r>
            <a:r>
              <a:rPr lang="en-US" dirty="0" err="1" smtClean="0"/>
              <a:t>Deursen</a:t>
            </a:r>
            <a:r>
              <a:rPr lang="en-US" dirty="0" smtClean="0"/>
              <a:t> (2006).</a:t>
            </a:r>
          </a:p>
          <a:p>
            <a:pPr lvl="1"/>
            <a:r>
              <a:rPr lang="en-US" dirty="0" smtClean="0"/>
              <a:t>Significant correlation between class metrics (fan out, size of a class, response for a class) and test metrics (size of the class, number of asserts).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5020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number of asserts does not tell us anything about the production code quality</a:t>
            </a:r>
          </a:p>
          <a:p>
            <a:pPr lvl="1"/>
            <a:r>
              <a:rPr lang="en-US" dirty="0" smtClean="0"/>
              <a:t>But the number of asserted objects does.</a:t>
            </a:r>
          </a:p>
          <a:p>
            <a:pPr lvl="1"/>
            <a:r>
              <a:rPr lang="en-US" dirty="0" smtClean="0"/>
              <a:t>“More than one asserted object per test” smell</a:t>
            </a:r>
          </a:p>
          <a:p>
            <a:r>
              <a:rPr lang="en-US" dirty="0" smtClean="0"/>
              <a:t>The need of replicating the study with a larger amount of industry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502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Contact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Mauricio Aniche</a:t>
            </a:r>
            <a:br>
              <a:rPr lang="en-US" dirty="0" smtClean="0"/>
            </a:br>
            <a:r>
              <a:rPr lang="en-US" dirty="0" smtClean="0">
                <a:hlinkClick r:id="rId2"/>
              </a:rPr>
              <a:t>aniche@ime.usp.br</a:t>
            </a:r>
            <a:r>
              <a:rPr lang="en-US" dirty="0" smtClean="0"/>
              <a:t> / @</a:t>
            </a:r>
            <a:r>
              <a:rPr lang="en-US" dirty="0" err="1" smtClean="0"/>
              <a:t>mauricioaniche</a:t>
            </a:r>
            <a:endParaRPr lang="en-US" dirty="0" smtClean="0"/>
          </a:p>
          <a:p>
            <a:r>
              <a:rPr lang="en-US" dirty="0" smtClean="0"/>
              <a:t>Gustavo Oliva</a:t>
            </a:r>
            <a:br>
              <a:rPr lang="en-US" dirty="0" smtClean="0"/>
            </a:br>
            <a:r>
              <a:rPr lang="en-US" dirty="0" smtClean="0">
                <a:hlinkClick r:id="rId3"/>
              </a:rPr>
              <a:t>goliva@ime.usp.br</a:t>
            </a:r>
            <a:r>
              <a:rPr lang="en-US" dirty="0" smtClean="0"/>
              <a:t> / @</a:t>
            </a:r>
            <a:r>
              <a:rPr lang="en-US" dirty="0" err="1" smtClean="0"/>
              <a:t>golivax</a:t>
            </a:r>
            <a:endParaRPr lang="en-US" dirty="0" smtClean="0"/>
          </a:p>
          <a:p>
            <a:r>
              <a:rPr lang="en-US" dirty="0" smtClean="0"/>
              <a:t>Marco Gerosa</a:t>
            </a:r>
            <a:br>
              <a:rPr lang="en-US" dirty="0" smtClean="0"/>
            </a:br>
            <a:r>
              <a:rPr lang="en-US" dirty="0" smtClean="0">
                <a:hlinkClick r:id="rId4"/>
              </a:rPr>
              <a:t>gerosa@ime.usp.br</a:t>
            </a:r>
            <a:endParaRPr lang="en-US" dirty="0" smtClean="0"/>
          </a:p>
          <a:p>
            <a:endParaRPr lang="en-US" dirty="0"/>
          </a:p>
          <a:p>
            <a:pPr marL="68580" indent="0" algn="ctr">
              <a:buNone/>
            </a:pPr>
            <a:r>
              <a:rPr lang="en-US" dirty="0" smtClean="0"/>
              <a:t>Software </a:t>
            </a:r>
            <a:r>
              <a:rPr lang="en-US" dirty="0"/>
              <a:t>Engineering &amp; Collaborative Systems Research </a:t>
            </a:r>
            <a:r>
              <a:rPr lang="en-US" dirty="0" smtClean="0"/>
              <a:t>Lab (LAPESSC)</a:t>
            </a:r>
            <a:br>
              <a:rPr lang="en-US" dirty="0" smtClean="0"/>
            </a:br>
            <a:r>
              <a:rPr lang="en-US" dirty="0" smtClean="0">
                <a:hlinkClick r:id="rId5"/>
              </a:rPr>
              <a:t>http</a:t>
            </a:r>
            <a:r>
              <a:rPr lang="en-US" dirty="0">
                <a:hlinkClick r:id="rId5"/>
              </a:rPr>
              <a:t>://lapessc.ime.usp.br</a:t>
            </a:r>
            <a:r>
              <a:rPr lang="en-US" dirty="0" smtClean="0">
                <a:hlinkClick r:id="rId5"/>
              </a:rPr>
              <a:t>/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6358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Plaza">
      <a:dk1>
        <a:sysClr val="windowText" lastClr="000000"/>
      </a:dk1>
      <a:lt1>
        <a:sysClr val="window" lastClr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Austin.thmx</Template>
  <TotalTime>2381</TotalTime>
  <Words>794</Words>
  <Application>Microsoft Macintosh PowerPoint</Application>
  <PresentationFormat>On-screen Show (4:3)</PresentationFormat>
  <Paragraphs>126</Paragraphs>
  <Slides>24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Austin</vt:lpstr>
      <vt:lpstr>What Do the Asserts in a Unit Test Tell us About Code Quality?</vt:lpstr>
      <vt:lpstr>Unit Tests and Code Quality</vt:lpstr>
      <vt:lpstr>Unit Tests and Asserts</vt:lpstr>
      <vt:lpstr>A little piece of code</vt:lpstr>
      <vt:lpstr>Why would…</vt:lpstr>
      <vt:lpstr>Research Design</vt:lpstr>
      <vt:lpstr>Hypotheses</vt:lpstr>
      <vt:lpstr>Data Extraction</vt:lpstr>
      <vt:lpstr>Heuristic to Extract the Production Method</vt:lpstr>
      <vt:lpstr>Selected Projects</vt:lpstr>
      <vt:lpstr>Selected Projects  </vt:lpstr>
      <vt:lpstr>Asserts Distribution in Selected Projects</vt:lpstr>
      <vt:lpstr>Statistical Test</vt:lpstr>
      <vt:lpstr>Results of the Test</vt:lpstr>
      <vt:lpstr>Why more than 1 assert?</vt:lpstr>
      <vt:lpstr>“Asserted Objects”</vt:lpstr>
      <vt:lpstr>Distribution of Asserted Objects</vt:lpstr>
      <vt:lpstr>Results of the Test</vt:lpstr>
      <vt:lpstr>Summary of the Tests</vt:lpstr>
      <vt:lpstr>Findings</vt:lpstr>
      <vt:lpstr>Threats to Validity</vt:lpstr>
      <vt:lpstr>Related Work</vt:lpstr>
      <vt:lpstr>Conclusions</vt:lpstr>
      <vt:lpstr>Contact Information</vt:lpstr>
    </vt:vector>
  </TitlesOfParts>
  <Company>University of Sao Paulo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Do the Asserts in a Unit Test Tell us About Code Quality?</dc:title>
  <dc:creator>Mauricio Aniche</dc:creator>
  <cp:lastModifiedBy>Mauricio Aniche</cp:lastModifiedBy>
  <cp:revision>11</cp:revision>
  <dcterms:created xsi:type="dcterms:W3CDTF">2013-03-04T07:36:52Z</dcterms:created>
  <dcterms:modified xsi:type="dcterms:W3CDTF">2013-03-06T21:18:44Z</dcterms:modified>
</cp:coreProperties>
</file>